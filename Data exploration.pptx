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BC9E-CC85-2D02-779E-B49F8A678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9AA0A-2A52-43FE-3CB7-A60FDE581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31127-5191-CC9D-BC6D-D241B9B15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6B527-902C-4636-B3D3-7F5A6A2C27B0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15539-039B-5F1D-F498-F6F8E66C5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2CD66-0CA1-F77D-8CE1-16228091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E5355-4611-45ED-B65B-75341748C20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8336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736DC-8919-BDDA-F29D-CEBFABBE9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9A68D-BC63-ED3A-B2B2-A6678621B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33C35-C203-9613-AA5A-561F7C36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6B527-902C-4636-B3D3-7F5A6A2C27B0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4B2B6-A0E8-39DE-1DEA-94727E265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F435A-87CE-C900-0AA3-D78C856C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E5355-4611-45ED-B65B-75341748C20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3304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2C231-EF70-3DCA-E91C-39E51FD45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68CB2-DF2C-4905-B0B6-0D5595F2E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3888C-EC51-0701-88F1-3DFB6A897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6B527-902C-4636-B3D3-7F5A6A2C27B0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E0E14-B014-7B8A-3711-56B6F846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23EEB-5560-799F-8549-63BFE94F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E5355-4611-45ED-B65B-75341748C20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4818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7F26-16FE-1605-5DAB-D31A7B196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DF799-C4DF-7DAC-9AA9-89FE46C5B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58790-A7B7-D19D-3A56-B621BEEF7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916F1-329B-BFE2-7A56-F9D0891CB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6B527-902C-4636-B3D3-7F5A6A2C27B0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3C30C-5DBE-75E6-B0AB-52799B6B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C2990-2DE0-1C06-0540-14AFE764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E5355-4611-45ED-B65B-75341748C20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223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0EB4-ACEE-731B-3F6A-6414B24BD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9C5C8-19BD-9B8B-9295-C6851EAA1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FB5BF-FF8E-C0CF-E82F-60CAFA9DC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CDAB6-3C93-16F2-FA33-3C548CDD0A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1AE378-0B6C-CE9F-7023-77FF8B55D8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9255D-A24F-0B67-3540-12DB85C3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6B527-902C-4636-B3D3-7F5A6A2C27B0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E1F4B-3265-987E-1B7B-D0E41168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CD875C-A495-96F6-E839-AF8890417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E5355-4611-45ED-B65B-75341748C20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162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D0A7-E254-5413-865E-5E07D399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B9ACED-361E-EDB1-21B6-0B5088240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6B527-902C-4636-B3D3-7F5A6A2C27B0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6AFCBB-FFB0-D57F-58D2-D763FEDB3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D1E3E-6C0F-B49D-B68F-9CBECC198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E5355-4611-45ED-B65B-75341748C20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9106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484FF0-3298-8465-2EDD-B0371A452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6B527-902C-4636-B3D3-7F5A6A2C27B0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42A99D-E62E-D3FC-1780-AAA70F378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D33FF-7972-0A64-4F1D-D335D95B1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E5355-4611-45ED-B65B-75341748C20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26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B6834-DEE0-763B-AAC4-40A0939BF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6CB98-4202-D5C7-8AAB-468007E06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3DB13-D49C-B92F-A501-85A488B5A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56316-FAF8-4A16-297A-606CCAC3E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6B527-902C-4636-B3D3-7F5A6A2C27B0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317B4-71B3-7C95-B3A1-A9DACAC0B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B8EC7-EE48-6719-B012-204DE632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E5355-4611-45ED-B65B-75341748C20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3127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7A4FE-41C3-654C-54ED-F8914B1DF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7CA63A-96C9-1732-BE6D-3A2E748405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B71C4-5075-78D1-BB94-D166CF142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21C50-1A69-259F-7936-3DDF7137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6B527-902C-4636-B3D3-7F5A6A2C27B0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E7225-41D7-EC98-F0B6-DF17AF047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A0490-A390-9142-90F4-1BFF422EF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E5355-4611-45ED-B65B-75341748C20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463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002F2-6BF5-6320-4ED8-D68E889F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74968-AB71-15F3-6A61-5483716E4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E5E6D-8FE0-7581-9390-DD6E7485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6B527-902C-4636-B3D3-7F5A6A2C27B0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80248-F701-01D2-B645-8D2B14C29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30A4C-261C-DA40-3365-AEA6DEFE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E5355-4611-45ED-B65B-75341748C20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3732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C4BEBB-1A79-8966-163F-2C5D044A6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C1687C-E35F-8774-1AD5-F4AB268CE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31FD1-A0F5-1B29-E8BF-36E58EE3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6B527-902C-4636-B3D3-7F5A6A2C27B0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E9231-F2C1-E621-FC28-5E4E16CC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75C77-E174-CCDB-0B0F-C5C95E42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E5355-4611-45ED-B65B-75341748C20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2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F5F80D-A623-6D3B-3753-E25193B0F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50B2B-1DE5-3C28-F526-F21FD4D2D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E9941-C505-90D6-5E22-0F78731481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6B527-902C-4636-B3D3-7F5A6A2C27B0}" type="datetimeFigureOut">
              <a:rPr lang="en-CA" smtClean="0"/>
              <a:t>2025-10-27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4BE75-6D74-B2F2-B8D2-16D035E1D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72EB6-8879-B258-58D0-81F75D8BF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EE5355-4611-45ED-B65B-75341748C20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0438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9A41-7B50-89CE-8B4C-FE78FCBFF5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73A14E-7B5D-779D-3C8A-C3C486AACD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205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47DE8A-B756-3EFF-823B-1FA6E118F074}"/>
              </a:ext>
            </a:extLst>
          </p:cNvPr>
          <p:cNvSpPr txBox="1"/>
          <p:nvPr/>
        </p:nvSpPr>
        <p:spPr>
          <a:xfrm>
            <a:off x="640989" y="592265"/>
            <a:ext cx="23204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Responses I want to look at</a:t>
            </a:r>
          </a:p>
          <a:p>
            <a:endParaRPr lang="en-CA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Some measure of adult female detections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Some measure of adult female detections with fawns</a:t>
            </a:r>
          </a:p>
        </p:txBody>
      </p:sp>
      <p:pic>
        <p:nvPicPr>
          <p:cNvPr id="2" name="Picture 2" descr="Odocoileus virginianus">
            <a:extLst>
              <a:ext uri="{FF2B5EF4-FFF2-40B4-BE49-F238E27FC236}">
                <a16:creationId xmlns:a16="http://schemas.microsoft.com/office/drawing/2014/main" id="{05F2F159-5C97-BCCC-5A1F-17AF786C7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60" y="4275302"/>
            <a:ext cx="890758" cy="102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E5E6899-6699-B75F-0CAC-4CE4ABA727D2}"/>
              </a:ext>
            </a:extLst>
          </p:cNvPr>
          <p:cNvGrpSpPr/>
          <p:nvPr/>
        </p:nvGrpSpPr>
        <p:grpSpPr>
          <a:xfrm>
            <a:off x="1521996" y="4275302"/>
            <a:ext cx="1272131" cy="1027248"/>
            <a:chOff x="7625949" y="1603310"/>
            <a:chExt cx="3289910" cy="2320406"/>
          </a:xfrm>
        </p:grpSpPr>
        <p:pic>
          <p:nvPicPr>
            <p:cNvPr id="3" name="Picture 2" descr="Odocoileus virginianus">
              <a:extLst>
                <a:ext uri="{FF2B5EF4-FFF2-40B4-BE49-F238E27FC236}">
                  <a16:creationId xmlns:a16="http://schemas.microsoft.com/office/drawing/2014/main" id="{C249C2E5-2921-E115-6CA1-63D51F5ED3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5949" y="1603310"/>
              <a:ext cx="2012093" cy="2320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2" descr="Odocoileus virginianus">
              <a:extLst>
                <a:ext uri="{FF2B5EF4-FFF2-40B4-BE49-F238E27FC236}">
                  <a16:creationId xmlns:a16="http://schemas.microsoft.com/office/drawing/2014/main" id="{E246EE25-7202-8A0D-0CC7-14C647A421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47869" y="2692764"/>
              <a:ext cx="967990" cy="11163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31731A-0C8C-C194-AC19-BAEFE0121D2B}"/>
              </a:ext>
            </a:extLst>
          </p:cNvPr>
          <p:cNvCxnSpPr/>
          <p:nvPr/>
        </p:nvCxnSpPr>
        <p:spPr>
          <a:xfrm flipH="1">
            <a:off x="2959510" y="429934"/>
            <a:ext cx="98323" cy="5693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6A8D1AE-C253-7B27-490C-9FF7E8DE8F59}"/>
              </a:ext>
            </a:extLst>
          </p:cNvPr>
          <p:cNvSpPr txBox="1"/>
          <p:nvPr/>
        </p:nvSpPr>
        <p:spPr>
          <a:xfrm>
            <a:off x="3588261" y="529736"/>
            <a:ext cx="30976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Things I care about</a:t>
            </a:r>
          </a:p>
          <a:p>
            <a:endParaRPr lang="en-CA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Some measure of landscape disturbance for </a:t>
            </a:r>
            <a:r>
              <a:rPr lang="en-CA" b="1" dirty="0"/>
              <a:t>each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Some measure of weather variables representing winter harshness in T-1at </a:t>
            </a:r>
            <a:r>
              <a:rPr lang="en-CA" b="1" dirty="0"/>
              <a:t>each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Some sort of interaction between the two potentially</a:t>
            </a:r>
          </a:p>
          <a:p>
            <a:endParaRPr lang="en-CA" dirty="0"/>
          </a:p>
          <a:p>
            <a:pPr lvl="1"/>
            <a:endParaRPr lang="en-CA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CAFAE2-6375-2210-24D5-520E4D895E7C}"/>
              </a:ext>
            </a:extLst>
          </p:cNvPr>
          <p:cNvCxnSpPr/>
          <p:nvPr/>
        </p:nvCxnSpPr>
        <p:spPr>
          <a:xfrm flipH="1">
            <a:off x="6936658" y="468802"/>
            <a:ext cx="98323" cy="5693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19131B0-6011-7860-2518-63CE892E1BE7}"/>
              </a:ext>
            </a:extLst>
          </p:cNvPr>
          <p:cNvSpPr txBox="1"/>
          <p:nvPr/>
        </p:nvSpPr>
        <p:spPr>
          <a:xfrm>
            <a:off x="7683653" y="529736"/>
            <a:ext cx="36431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Things I don’t care about and just want to control for</a:t>
            </a:r>
          </a:p>
          <a:p>
            <a:endParaRPr lang="en-CA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Some measure of predator activity </a:t>
            </a:r>
            <a:r>
              <a:rPr lang="en-CA" b="1" dirty="0"/>
              <a:t>at each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Some measure of habitat characteristics or</a:t>
            </a:r>
            <a:r>
              <a:rPr lang="en-CA" b="1" dirty="0"/>
              <a:t> productivity at each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Hierarchical effects of landscape unit and year (boring ole variance)</a:t>
            </a:r>
          </a:p>
          <a:p>
            <a:endParaRPr lang="en-CA" dirty="0"/>
          </a:p>
          <a:p>
            <a:pPr lvl="1"/>
            <a:endParaRPr lang="en-CA" dirty="0"/>
          </a:p>
        </p:txBody>
      </p:sp>
      <p:pic>
        <p:nvPicPr>
          <p:cNvPr id="9224" name="Picture 8" descr="Ursus americanus ssp. emmonsii">
            <a:extLst>
              <a:ext uri="{FF2B5EF4-FFF2-40B4-BE49-F238E27FC236}">
                <a16:creationId xmlns:a16="http://schemas.microsoft.com/office/drawing/2014/main" id="{C9C3F49E-BB39-7F2A-C43C-7C2962E8B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698" y="4395019"/>
            <a:ext cx="1216509" cy="894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Sorghum bicolor">
            <a:extLst>
              <a:ext uri="{FF2B5EF4-FFF2-40B4-BE49-F238E27FC236}">
                <a16:creationId xmlns:a16="http://schemas.microsoft.com/office/drawing/2014/main" id="{B2326A52-3F50-C477-A937-882368378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4245" y="3852881"/>
            <a:ext cx="778029" cy="1436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raphic 17" descr="Dump truck with solid fill">
            <a:extLst>
              <a:ext uri="{FF2B5EF4-FFF2-40B4-BE49-F238E27FC236}">
                <a16:creationId xmlns:a16="http://schemas.microsoft.com/office/drawing/2014/main" id="{6226BE23-BF48-5E78-218C-0D80A237A7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81604" y="4395019"/>
            <a:ext cx="914400" cy="914400"/>
          </a:xfrm>
          <a:prstGeom prst="rect">
            <a:avLst/>
          </a:prstGeom>
        </p:spPr>
      </p:pic>
      <p:pic>
        <p:nvPicPr>
          <p:cNvPr id="20" name="Graphic 19" descr="Snowflake with solid fill">
            <a:extLst>
              <a:ext uri="{FF2B5EF4-FFF2-40B4-BE49-F238E27FC236}">
                <a16:creationId xmlns:a16="http://schemas.microsoft.com/office/drawing/2014/main" id="{AFA34A02-6CDB-63E9-33B2-CAE312332A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25741" y="430040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40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4F66F7-A911-7F79-B9C7-6A67607D37E0}"/>
              </a:ext>
            </a:extLst>
          </p:cNvPr>
          <p:cNvSpPr txBox="1"/>
          <p:nvPr/>
        </p:nvSpPr>
        <p:spPr>
          <a:xfrm>
            <a:off x="570271" y="442452"/>
            <a:ext cx="1145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EBD1EC-190B-4BDE-53CA-C6DDF94BFA55}"/>
              </a:ext>
            </a:extLst>
          </p:cNvPr>
          <p:cNvSpPr txBox="1"/>
          <p:nvPr/>
        </p:nvSpPr>
        <p:spPr>
          <a:xfrm>
            <a:off x="412955" y="1184788"/>
            <a:ext cx="442024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430 sites from 2021-2024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97,620 images of WTD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8,619 independent detections (30 mins)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327 /430 sites ( 76% occupancy)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10/10 arrays (100 % occupancy)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Somewhat of a south-north gradient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E501CD-9C82-C1BF-28DD-5934B0D1A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204" y="-459901"/>
            <a:ext cx="6782164" cy="777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4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DCECD9-7701-BFF2-A321-0046DAD09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" y="541774"/>
            <a:ext cx="12068175" cy="4267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480472-D816-DA07-F06E-267048B381F9}"/>
              </a:ext>
            </a:extLst>
          </p:cNvPr>
          <p:cNvSpPr txBox="1"/>
          <p:nvPr/>
        </p:nvSpPr>
        <p:spPr>
          <a:xfrm>
            <a:off x="2265680" y="5344160"/>
            <a:ext cx="9013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Time series looks kind of how you would expect, more detections in summer, less in winter</a:t>
            </a:r>
          </a:p>
        </p:txBody>
      </p:sp>
    </p:spTree>
    <p:extLst>
      <p:ext uri="{BB962C8B-B14F-4D97-AF65-F5344CB8AC3E}">
        <p14:creationId xmlns:p14="http://schemas.microsoft.com/office/powerpoint/2010/main" val="1825807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docoileus virginianus">
            <a:extLst>
              <a:ext uri="{FF2B5EF4-FFF2-40B4-BE49-F238E27FC236}">
                <a16:creationId xmlns:a16="http://schemas.microsoft.com/office/drawing/2014/main" id="{EB7E40B4-4232-3F5E-96B8-6BF4B4ACF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490" y="1603310"/>
            <a:ext cx="2012093" cy="2320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Odocoileus virginianus">
            <a:extLst>
              <a:ext uri="{FF2B5EF4-FFF2-40B4-BE49-F238E27FC236}">
                <a16:creationId xmlns:a16="http://schemas.microsoft.com/office/drawing/2014/main" id="{17C8554C-B340-4F55-EEDD-2B92DC949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949" y="1603310"/>
            <a:ext cx="2012093" cy="2320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Odocoileus virginianus">
            <a:extLst>
              <a:ext uri="{FF2B5EF4-FFF2-40B4-BE49-F238E27FC236}">
                <a16:creationId xmlns:a16="http://schemas.microsoft.com/office/drawing/2014/main" id="{0A1D2EF2-7732-9082-C159-5ADDD0011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869" y="2692764"/>
            <a:ext cx="967990" cy="1116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E7B1088-71FB-9D63-DF27-35A9A0B90947}"/>
              </a:ext>
            </a:extLst>
          </p:cNvPr>
          <p:cNvSpPr txBox="1"/>
          <p:nvPr/>
        </p:nvSpPr>
        <p:spPr>
          <a:xfrm>
            <a:off x="2187541" y="462225"/>
            <a:ext cx="7450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Breaking this down to events of just females vs females with young of year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CE48DF-1BB8-3033-6EE6-2CABA5029336}"/>
              </a:ext>
            </a:extLst>
          </p:cNvPr>
          <p:cNvSpPr txBox="1"/>
          <p:nvPr/>
        </p:nvSpPr>
        <p:spPr>
          <a:xfrm>
            <a:off x="943221" y="4695469"/>
            <a:ext cx="3236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2418 independent detections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289/430 sites (67%)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10/10 arrays (100%)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90A4CC-BA5F-0DBD-B2FD-40978D1B3606}"/>
              </a:ext>
            </a:extLst>
          </p:cNvPr>
          <p:cNvSpPr txBox="1"/>
          <p:nvPr/>
        </p:nvSpPr>
        <p:spPr>
          <a:xfrm>
            <a:off x="7908404" y="4654525"/>
            <a:ext cx="32368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956 independent detections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149/430 sites (35%)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10/10 arrays (100%)</a:t>
            </a:r>
          </a:p>
        </p:txBody>
      </p:sp>
    </p:spTree>
    <p:extLst>
      <p:ext uri="{BB962C8B-B14F-4D97-AF65-F5344CB8AC3E}">
        <p14:creationId xmlns:p14="http://schemas.microsoft.com/office/powerpoint/2010/main" val="4128342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D18B7-7A7E-A147-B1D1-F7070DBA2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2524F7-724C-073D-1D8F-261BD2548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338" y="204986"/>
            <a:ext cx="6062662" cy="63467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35F38A-90B5-2535-9B64-2D9E3AE66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87" y="240470"/>
            <a:ext cx="6360906" cy="6275754"/>
          </a:xfrm>
          <a:prstGeom prst="rect">
            <a:avLst/>
          </a:prstGeom>
        </p:spPr>
      </p:pic>
      <p:pic>
        <p:nvPicPr>
          <p:cNvPr id="3074" name="Picture 2" descr="Odocoileus virginianus">
            <a:extLst>
              <a:ext uri="{FF2B5EF4-FFF2-40B4-BE49-F238E27FC236}">
                <a16:creationId xmlns:a16="http://schemas.microsoft.com/office/drawing/2014/main" id="{496C3EE6-D38E-25E1-746C-04CE7A561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496" y="4139381"/>
            <a:ext cx="1177665" cy="1358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9C07E33-1B64-5A02-75EE-479B993EB750}"/>
              </a:ext>
            </a:extLst>
          </p:cNvPr>
          <p:cNvGrpSpPr/>
          <p:nvPr/>
        </p:nvGrpSpPr>
        <p:grpSpPr>
          <a:xfrm>
            <a:off x="6903147" y="4208858"/>
            <a:ext cx="2257522" cy="1454522"/>
            <a:chOff x="7655446" y="275955"/>
            <a:chExt cx="2257522" cy="1454522"/>
          </a:xfrm>
        </p:grpSpPr>
        <p:pic>
          <p:nvPicPr>
            <p:cNvPr id="10" name="Picture 2" descr="Odocoileus virginianus">
              <a:extLst>
                <a:ext uri="{FF2B5EF4-FFF2-40B4-BE49-F238E27FC236}">
                  <a16:creationId xmlns:a16="http://schemas.microsoft.com/office/drawing/2014/main" id="{1C5F733A-EAAF-2734-9040-63C2225AC9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55446" y="275955"/>
              <a:ext cx="1177666" cy="1358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Odocoileus virginianus">
              <a:extLst>
                <a:ext uri="{FF2B5EF4-FFF2-40B4-BE49-F238E27FC236}">
                  <a16:creationId xmlns:a16="http://schemas.microsoft.com/office/drawing/2014/main" id="{38BAA15F-3AF6-E242-0A3D-20A78B76A1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75173" y="764306"/>
              <a:ext cx="837795" cy="966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6772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86CD92-92B7-F928-385D-5F8C5B839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931" y="-153851"/>
            <a:ext cx="6638597" cy="70118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A65923-4340-2A05-BC8F-D3CF7F1D6377}"/>
              </a:ext>
            </a:extLst>
          </p:cNvPr>
          <p:cNvSpPr txBox="1"/>
          <p:nvPr/>
        </p:nvSpPr>
        <p:spPr>
          <a:xfrm>
            <a:off x="1376516" y="1435510"/>
            <a:ext cx="1896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Disturbance sum</a:t>
            </a:r>
          </a:p>
        </p:txBody>
      </p:sp>
    </p:spTree>
    <p:extLst>
      <p:ext uri="{BB962C8B-B14F-4D97-AF65-F5344CB8AC3E}">
        <p14:creationId xmlns:p14="http://schemas.microsoft.com/office/powerpoint/2010/main" val="2227969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3AAAA0-B95F-E58C-1A69-06DD67EC6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90" y="78658"/>
            <a:ext cx="674957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8AD211-E6F3-2C2B-8C8E-A2458435C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8658"/>
            <a:ext cx="6749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847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DEF65-C04E-AA51-0EAB-3A24C35CC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B15CDC-FD7D-6B60-0153-CDB061811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86" y="680037"/>
            <a:ext cx="5306165" cy="3315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3103AF-8E17-3260-7CCC-C32B8BD21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80037"/>
            <a:ext cx="5173829" cy="33151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05AB67-018F-E3FA-798C-A125F30D1C9D}"/>
              </a:ext>
            </a:extLst>
          </p:cNvPr>
          <p:cNvSpPr txBox="1"/>
          <p:nvPr/>
        </p:nvSpPr>
        <p:spPr>
          <a:xfrm>
            <a:off x="2143433" y="4463846"/>
            <a:ext cx="98125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Positive effect of disturbance on both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Stronger for females </a:t>
            </a:r>
            <a:r>
              <a:rPr lang="en-CA" dirty="0">
                <a:sym typeface="Wingdings" panose="05000000000000000000" pitchFamily="2" charset="2"/>
              </a:rPr>
              <a:t> lone females like more disturbance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ym typeface="Wingdings" panose="05000000000000000000" pitchFamily="2" charset="2"/>
              </a:rPr>
              <a:t>Weaker for fawns  females with fawns like higher disturbance but not as much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ym typeface="Wingdings" panose="05000000000000000000" pitchFamily="2" charset="2"/>
              </a:rPr>
              <a:t>More variation in landscape unit for fawns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sym typeface="Wingdings" panose="05000000000000000000" pitchFamily="2" charset="2"/>
            </a:endParaRPr>
          </a:p>
          <a:p>
            <a:r>
              <a:rPr lang="en-CA" dirty="0">
                <a:sym typeface="Wingdings" panose="05000000000000000000" pitchFamily="2" charset="2"/>
              </a:rPr>
              <a:t>Simple model structure though. Potential limit of disturbance for fawns? Considering a quadratic or breakpoint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79961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1B03C-F9C1-B4DE-BAA9-CFDD3BFF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FCEB86-CA83-ECA2-0A75-BC221862E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464" y="96325"/>
            <a:ext cx="7115175" cy="6429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381D7E-EB74-AD1A-2F0F-3EA416E3B730}"/>
              </a:ext>
            </a:extLst>
          </p:cNvPr>
          <p:cNvSpPr txBox="1"/>
          <p:nvPr/>
        </p:nvSpPr>
        <p:spPr>
          <a:xfrm>
            <a:off x="4493342" y="1278194"/>
            <a:ext cx="9812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Segmented analysis looks like crap</a:t>
            </a:r>
          </a:p>
        </p:txBody>
      </p:sp>
    </p:spTree>
    <p:extLst>
      <p:ext uri="{BB962C8B-B14F-4D97-AF65-F5344CB8AC3E}">
        <p14:creationId xmlns:p14="http://schemas.microsoft.com/office/powerpoint/2010/main" val="786971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BACA7-5243-6D1F-DC58-8668438BC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E48B21-4890-2AC7-E38B-2B5824C09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031" y="283138"/>
            <a:ext cx="7115175" cy="6429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1C8AF4-67D0-E906-B450-54EEA6917ABC}"/>
              </a:ext>
            </a:extLst>
          </p:cNvPr>
          <p:cNvSpPr txBox="1"/>
          <p:nvPr/>
        </p:nvSpPr>
        <p:spPr>
          <a:xfrm>
            <a:off x="7393858" y="835742"/>
            <a:ext cx="3769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Quadratic not much better</a:t>
            </a:r>
          </a:p>
        </p:txBody>
      </p:sp>
    </p:spTree>
    <p:extLst>
      <p:ext uri="{BB962C8B-B14F-4D97-AF65-F5344CB8AC3E}">
        <p14:creationId xmlns:p14="http://schemas.microsoft.com/office/powerpoint/2010/main" val="2640842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</TotalTime>
  <Words>253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Barnas, Andrew</dc:creator>
  <cp:lastModifiedBy>Barnas, Andrew</cp:lastModifiedBy>
  <cp:revision>3</cp:revision>
  <dcterms:created xsi:type="dcterms:W3CDTF">2025-10-27T18:13:10Z</dcterms:created>
  <dcterms:modified xsi:type="dcterms:W3CDTF">2025-10-28T18:50:12Z</dcterms:modified>
</cp:coreProperties>
</file>